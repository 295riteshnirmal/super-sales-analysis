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56" r:id="rId2"/>
    <p:sldId id="267" r:id="rId3"/>
    <p:sldId id="257" r:id="rId4"/>
    <p:sldId id="258" r:id="rId5"/>
    <p:sldId id="259" r:id="rId6"/>
    <p:sldId id="260" r:id="rId7"/>
    <p:sldId id="261" r:id="rId8"/>
    <p:sldId id="262" r:id="rId9"/>
    <p:sldId id="263" r:id="rId10"/>
    <p:sldId id="264" r:id="rId11"/>
    <p:sldId id="265" r:id="rId12"/>
    <p:sldId id="268"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a:xfrm>
            <a:off x="1900237" y="5410202"/>
            <a:ext cx="3843665" cy="365125"/>
          </a:xfrm>
        </p:spPr>
        <p:txBody>
          <a:bodyPr/>
          <a:lstStyle/>
          <a:p>
            <a:endParaRPr lang="en-US"/>
          </a:p>
        </p:txBody>
      </p:sp>
      <p:sp>
        <p:nvSpPr>
          <p:cNvPr id="6" name="Slide Number Placeholder 5"/>
          <p:cNvSpPr>
            <a:spLocks noGrp="1"/>
          </p:cNvSpPr>
          <p:nvPr>
            <p:ph type="sldNum" sz="quarter" idx="12"/>
          </p:nvPr>
        </p:nvSpPr>
        <p:spPr>
          <a:xfrm>
            <a:off x="7915603" y="5410200"/>
            <a:ext cx="57831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6790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US"/>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5BCAD085-E8A6-8845-BD4E-CB4CCA059FC4}" type="datetimeFigureOut">
              <a:rPr lang="en-US" smtClean="0"/>
              <a:t>3/16/2026</a:t>
            </a:fld>
            <a:endParaRPr lang="en-US"/>
          </a:p>
        </p:txBody>
      </p:sp>
      <p:sp>
        <p:nvSpPr>
          <p:cNvPr id="50" name="Footer Placeholder 4"/>
          <p:cNvSpPr>
            <a:spLocks noGrp="1"/>
          </p:cNvSpPr>
          <p:nvPr>
            <p:ph type="ftr" sz="quarter" idx="11"/>
          </p:nvPr>
        </p:nvSpPr>
        <p:spPr>
          <a:xfrm>
            <a:off x="856059" y="5883276"/>
            <a:ext cx="4679482" cy="365125"/>
          </a:xfrm>
        </p:spPr>
        <p:txBody>
          <a:bodyPr/>
          <a:lstStyle/>
          <a:p>
            <a:endParaRPr lang="en-US"/>
          </a:p>
        </p:txBody>
      </p:sp>
      <p:sp>
        <p:nvSpPr>
          <p:cNvPr id="51" name="Slide Number Placeholder 5"/>
          <p:cNvSpPr>
            <a:spLocks noGrp="1"/>
          </p:cNvSpPr>
          <p:nvPr>
            <p:ph type="sldNum" sz="quarter" idx="12"/>
          </p:nvPr>
        </p:nvSpPr>
        <p:spPr>
          <a:xfrm>
            <a:off x="7707241" y="5883275"/>
            <a:ext cx="57831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3768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0112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1503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4800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5677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1977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8706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9916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68053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7418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3573262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49770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89399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3/16/2026</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7330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84404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7644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9041774" cy="6858001"/>
            <a:chOff x="-14288" y="0"/>
            <a:chExt cx="9041774"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3/16/2026</a:t>
            </a:fld>
            <a:endParaRPr lang="en-US"/>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061668480"/>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Superstore Sales Analysis Dashboard</a:t>
            </a:r>
          </a:p>
        </p:txBody>
      </p:sp>
      <p:sp>
        <p:nvSpPr>
          <p:cNvPr id="3" name="Subtitle 2"/>
          <p:cNvSpPr>
            <a:spLocks noGrp="1"/>
          </p:cNvSpPr>
          <p:nvPr>
            <p:ph type="subTitle" idx="1"/>
          </p:nvPr>
        </p:nvSpPr>
        <p:spPr/>
        <p:txBody>
          <a:bodyPr>
            <a:normAutofit fontScale="92500" lnSpcReduction="20000"/>
          </a:bodyPr>
          <a:lstStyle/>
          <a:p>
            <a:r>
              <a:rPr dirty="0"/>
              <a:t>A Mindful Overview of Orders, Profits &amp; Trends</a:t>
            </a:r>
          </a:p>
          <a:p>
            <a:endParaRPr dirty="0"/>
          </a:p>
          <a:p>
            <a:pPr algn="ctr"/>
            <a:r>
              <a:rPr dirty="0"/>
              <a:t>Presented by: Ritesh Nirmal</a:t>
            </a:r>
          </a:p>
          <a:p>
            <a:pPr algn="ctr"/>
            <a:r>
              <a:rPr dirty="0"/>
              <a:t>Date: June 27,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99A67-007C-4DAF-8F25-796AA8D6E3D5}"/>
              </a:ext>
            </a:extLst>
          </p:cNvPr>
          <p:cNvSpPr>
            <a:spLocks noGrp="1"/>
          </p:cNvSpPr>
          <p:nvPr>
            <p:ph type="title"/>
          </p:nvPr>
        </p:nvSpPr>
        <p:spPr/>
        <p:txBody>
          <a:bodyPr/>
          <a:lstStyle/>
          <a:p>
            <a:r>
              <a:rPr lang="en-US" dirty="0"/>
              <a:t>Objective of the project</a:t>
            </a:r>
            <a:br>
              <a:rPr lang="en-US" dirty="0"/>
            </a:br>
            <a:endParaRPr lang="en-IN" dirty="0"/>
          </a:p>
        </p:txBody>
      </p:sp>
      <p:sp>
        <p:nvSpPr>
          <p:cNvPr id="3" name="Content Placeholder 2">
            <a:extLst>
              <a:ext uri="{FF2B5EF4-FFF2-40B4-BE49-F238E27FC236}">
                <a16:creationId xmlns:a16="http://schemas.microsoft.com/office/drawing/2014/main" id="{C5333F41-E236-539E-C226-284C35671830}"/>
              </a:ext>
            </a:extLst>
          </p:cNvPr>
          <p:cNvSpPr>
            <a:spLocks noGrp="1"/>
          </p:cNvSpPr>
          <p:nvPr>
            <p:ph idx="1"/>
          </p:nvPr>
        </p:nvSpPr>
        <p:spPr/>
        <p:txBody>
          <a:bodyPr>
            <a:normAutofit fontScale="92500" lnSpcReduction="10000"/>
          </a:bodyPr>
          <a:lstStyle/>
          <a:p>
            <a:pPr marL="0" indent="0">
              <a:buNone/>
            </a:pPr>
            <a:r>
              <a:rPr lang="en-US" dirty="0"/>
              <a:t>Understand and visualize key business metrics such as sales, profit, order volume, customer segments, shipping modes, and regional performance. The goal is to extract actionable insights that can help improve decision-making, enhance customer experience, optimize operations, and drive sustainable growth.</a:t>
            </a:r>
          </a:p>
          <a:p>
            <a:endParaRPr lang="en-US" dirty="0"/>
          </a:p>
          <a:p>
            <a:r>
              <a:rPr lang="en-US" dirty="0"/>
              <a:t>This project uses Power BI to create a dynamic and interactive dashboard based on historical sales data.</a:t>
            </a:r>
          </a:p>
          <a:p>
            <a:endParaRPr lang="en-IN" dirty="0"/>
          </a:p>
        </p:txBody>
      </p:sp>
    </p:spTree>
    <p:extLst>
      <p:ext uri="{BB962C8B-B14F-4D97-AF65-F5344CB8AC3E}">
        <p14:creationId xmlns:p14="http://schemas.microsoft.com/office/powerpoint/2010/main" val="1640498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Metrics at a Glance</a:t>
            </a:r>
          </a:p>
        </p:txBody>
      </p:sp>
      <p:sp>
        <p:nvSpPr>
          <p:cNvPr id="3" name="Content Placeholder 2"/>
          <p:cNvSpPr>
            <a:spLocks noGrp="1"/>
          </p:cNvSpPr>
          <p:nvPr>
            <p:ph idx="1"/>
          </p:nvPr>
        </p:nvSpPr>
        <p:spPr/>
        <p:txBody>
          <a:bodyPr>
            <a:normAutofit fontScale="92500" lnSpcReduction="20000"/>
          </a:bodyPr>
          <a:lstStyle/>
          <a:p>
            <a:r>
              <a:rPr dirty="0"/>
              <a:t>Orders: 22K</a:t>
            </a:r>
          </a:p>
          <a:p>
            <a:r>
              <a:rPr dirty="0"/>
              <a:t>Sales: 1.57M</a:t>
            </a:r>
          </a:p>
          <a:p>
            <a:r>
              <a:rPr dirty="0"/>
              <a:t>Profit: 175K</a:t>
            </a:r>
          </a:p>
          <a:p>
            <a:r>
              <a:rPr dirty="0"/>
              <a:t>Average Ship Days: 4</a:t>
            </a:r>
          </a:p>
          <a:p>
            <a:endParaRPr dirty="0"/>
          </a:p>
          <a:p>
            <a:r>
              <a:rPr lang="en-IN" dirty="0"/>
              <a:t>🔍 </a:t>
            </a:r>
            <a:r>
              <a:rPr dirty="0"/>
              <a:t>Mindful Insight: A healthy profit margin suggests efficient operations, but focus on reducing ship days further for better customer experience.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Sales by Region</a:t>
            </a:r>
          </a:p>
        </p:txBody>
      </p:sp>
      <p:sp>
        <p:nvSpPr>
          <p:cNvPr id="3" name="Content Placeholder 2"/>
          <p:cNvSpPr>
            <a:spLocks noGrp="1"/>
          </p:cNvSpPr>
          <p:nvPr>
            <p:ph idx="1"/>
          </p:nvPr>
        </p:nvSpPr>
        <p:spPr>
          <a:xfrm>
            <a:off x="856060" y="2249486"/>
            <a:ext cx="7429499" cy="4446281"/>
          </a:xfrm>
        </p:spPr>
        <p:txBody>
          <a:bodyPr>
            <a:normAutofit/>
          </a:bodyPr>
          <a:lstStyle/>
          <a:p>
            <a:pPr marL="0" indent="0">
              <a:buNone/>
            </a:pPr>
            <a:r>
              <a:rPr lang="en-IN" dirty="0"/>
              <a:t>West: 33%</a:t>
            </a:r>
          </a:p>
          <a:p>
            <a:pPr marL="0" indent="0">
              <a:buNone/>
            </a:pPr>
            <a:r>
              <a:rPr lang="en-IN" dirty="0"/>
              <a:t>East: 29%</a:t>
            </a:r>
          </a:p>
          <a:p>
            <a:pPr marL="0" indent="0">
              <a:buNone/>
            </a:pPr>
            <a:r>
              <a:rPr lang="en-IN" dirty="0"/>
              <a:t>Central: 22%</a:t>
            </a:r>
          </a:p>
          <a:p>
            <a:pPr marL="0" indent="0">
              <a:buNone/>
            </a:pPr>
            <a:r>
              <a:rPr lang="en-IN" dirty="0"/>
              <a:t>South: 16%</a:t>
            </a:r>
          </a:p>
          <a:p>
            <a:pPr marL="0" indent="0">
              <a:buNone/>
            </a:pPr>
            <a:endParaRPr lang="en-IN" sz="2200" dirty="0"/>
          </a:p>
          <a:p>
            <a:pPr marL="0" indent="0">
              <a:buNone/>
            </a:pPr>
            <a:r>
              <a:rPr dirty="0"/>
              <a:t>West region leads in sales. Investigate what strategies or customer preferences drive its success and apply learnings to other regions.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60" y="0"/>
            <a:ext cx="7429499" cy="2097088"/>
          </a:xfrm>
        </p:spPr>
        <p:txBody>
          <a:bodyPr/>
          <a:lstStyle/>
          <a:p>
            <a:pPr algn="ctr"/>
            <a:r>
              <a:rPr dirty="0"/>
              <a:t>Sales by Segment</a:t>
            </a:r>
          </a:p>
        </p:txBody>
      </p:sp>
      <p:sp>
        <p:nvSpPr>
          <p:cNvPr id="3" name="Content Placeholder 2"/>
          <p:cNvSpPr>
            <a:spLocks noGrp="1"/>
          </p:cNvSpPr>
          <p:nvPr>
            <p:ph idx="1"/>
          </p:nvPr>
        </p:nvSpPr>
        <p:spPr/>
        <p:txBody>
          <a:bodyPr>
            <a:normAutofit lnSpcReduction="10000"/>
          </a:bodyPr>
          <a:lstStyle/>
          <a:p>
            <a:r>
              <a:rPr lang="en-IN" dirty="0"/>
              <a:t>Consumer: 48%</a:t>
            </a:r>
          </a:p>
          <a:p>
            <a:r>
              <a:rPr lang="en-IN" dirty="0"/>
              <a:t>Corporate: 33%</a:t>
            </a:r>
          </a:p>
          <a:p>
            <a:r>
              <a:rPr lang="en-IN" dirty="0"/>
              <a:t>Home Office: 19%</a:t>
            </a:r>
          </a:p>
          <a:p>
            <a:endParaRPr dirty="0"/>
          </a:p>
          <a:p>
            <a:r>
              <a:rPr lang="en-IN" dirty="0"/>
              <a:t>👥</a:t>
            </a:r>
            <a:r>
              <a:rPr dirty="0"/>
              <a:t> Mindful Insight: Consumer segment is the largest. Tailor marketing and promotions to meet specific consumer needs more deeply.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Sales by Payment Mode</a:t>
            </a:r>
          </a:p>
        </p:txBody>
      </p:sp>
      <p:sp>
        <p:nvSpPr>
          <p:cNvPr id="3" name="Content Placeholder 2"/>
          <p:cNvSpPr>
            <a:spLocks noGrp="1"/>
          </p:cNvSpPr>
          <p:nvPr>
            <p:ph idx="1"/>
          </p:nvPr>
        </p:nvSpPr>
        <p:spPr/>
        <p:txBody>
          <a:bodyPr>
            <a:normAutofit lnSpcReduction="10000"/>
          </a:bodyPr>
          <a:lstStyle/>
          <a:p>
            <a:r>
              <a:rPr dirty="0"/>
              <a:t>Online: 35%</a:t>
            </a:r>
          </a:p>
          <a:p>
            <a:r>
              <a:rPr dirty="0"/>
              <a:t>COD: 43%</a:t>
            </a:r>
          </a:p>
          <a:p>
            <a:r>
              <a:rPr dirty="0"/>
              <a:t>Cards: 22%</a:t>
            </a:r>
          </a:p>
          <a:p>
            <a:endParaRPr dirty="0"/>
          </a:p>
          <a:p>
            <a:r>
              <a:rPr dirty="0"/>
              <a:t>💳 Mindful Insight: High COD use may indicate trust issues or tech barriers. Encouraging card and online payments can improve cash flow.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Profit by Month (2019–2020)</a:t>
            </a:r>
          </a:p>
        </p:txBody>
      </p:sp>
      <p:sp>
        <p:nvSpPr>
          <p:cNvPr id="3" name="Content Placeholder 2"/>
          <p:cNvSpPr>
            <a:spLocks noGrp="1"/>
          </p:cNvSpPr>
          <p:nvPr>
            <p:ph idx="1"/>
          </p:nvPr>
        </p:nvSpPr>
        <p:spPr/>
        <p:txBody>
          <a:bodyPr/>
          <a:lstStyle/>
          <a:p>
            <a:r>
              <a:t>Graph showing monthly trends</a:t>
            </a:r>
          </a:p>
          <a:p>
            <a:endParaRPr/>
          </a:p>
          <a:p>
            <a:r>
              <a:t>📈 Mindful Insight: Profit spikes in certain months suggest seasonal demand. Plan inventory and promotions accordingly.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Sales by Month (2019–2020)</a:t>
            </a:r>
          </a:p>
        </p:txBody>
      </p:sp>
      <p:sp>
        <p:nvSpPr>
          <p:cNvPr id="3" name="Content Placeholder 2"/>
          <p:cNvSpPr>
            <a:spLocks noGrp="1"/>
          </p:cNvSpPr>
          <p:nvPr>
            <p:ph idx="1"/>
          </p:nvPr>
        </p:nvSpPr>
        <p:spPr/>
        <p:txBody>
          <a:bodyPr/>
          <a:lstStyle/>
          <a:p>
            <a:r>
              <a:t>Graph showing sales growth trends</a:t>
            </a:r>
          </a:p>
          <a:p>
            <a:endParaRPr/>
          </a:p>
          <a:p>
            <a:r>
              <a:t>📊 Mindful Insight: Consistent monthly growth is visible. This reflects effective customer retention and sales strategy.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Sales by Sub-Category</a:t>
            </a:r>
          </a:p>
        </p:txBody>
      </p:sp>
      <p:sp>
        <p:nvSpPr>
          <p:cNvPr id="3" name="Content Placeholder 2"/>
          <p:cNvSpPr>
            <a:spLocks noGrp="1"/>
          </p:cNvSpPr>
          <p:nvPr>
            <p:ph idx="1"/>
          </p:nvPr>
        </p:nvSpPr>
        <p:spPr/>
        <p:txBody>
          <a:bodyPr/>
          <a:lstStyle/>
          <a:p>
            <a:r>
              <a:rPr dirty="0"/>
              <a:t>Phones: </a:t>
            </a:r>
            <a:r>
              <a:rPr lang="en-IN" dirty="0"/>
              <a:t>197K</a:t>
            </a:r>
            <a:endParaRPr dirty="0"/>
          </a:p>
          <a:p>
            <a:r>
              <a:rPr dirty="0"/>
              <a:t>Chairs: </a:t>
            </a:r>
            <a:r>
              <a:rPr lang="en-IN" dirty="0"/>
              <a:t>183K</a:t>
            </a:r>
            <a:endParaRPr dirty="0"/>
          </a:p>
          <a:p>
            <a:r>
              <a:rPr dirty="0"/>
              <a:t>Binders: </a:t>
            </a:r>
            <a:r>
              <a:rPr lang="en-IN" dirty="0"/>
              <a:t>175K</a:t>
            </a:r>
            <a:endParaRPr dirty="0"/>
          </a:p>
          <a:p>
            <a:endParaRPr dirty="0"/>
          </a:p>
          <a:p>
            <a:r>
              <a:rPr dirty="0"/>
              <a:t>📦 Mindful Insight: Focused marketing on best-selling sub-categories can boost profits even further.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Sales by Category</a:t>
            </a:r>
          </a:p>
        </p:txBody>
      </p:sp>
      <p:sp>
        <p:nvSpPr>
          <p:cNvPr id="3" name="Content Placeholder 2"/>
          <p:cNvSpPr>
            <a:spLocks noGrp="1"/>
          </p:cNvSpPr>
          <p:nvPr>
            <p:ph idx="1"/>
          </p:nvPr>
        </p:nvSpPr>
        <p:spPr/>
        <p:txBody>
          <a:bodyPr>
            <a:normAutofit/>
          </a:bodyPr>
          <a:lstStyle/>
          <a:p>
            <a:r>
              <a:rPr dirty="0"/>
              <a:t>Office Supplies:</a:t>
            </a:r>
            <a:r>
              <a:rPr lang="en-IN" dirty="0"/>
              <a:t> 644K</a:t>
            </a:r>
            <a:r>
              <a:rPr dirty="0"/>
              <a:t> </a:t>
            </a:r>
          </a:p>
          <a:p>
            <a:r>
              <a:rPr dirty="0"/>
              <a:t>Technology: </a:t>
            </a:r>
            <a:r>
              <a:rPr lang="en-IN" dirty="0"/>
              <a:t>471K</a:t>
            </a:r>
            <a:endParaRPr dirty="0"/>
          </a:p>
          <a:p>
            <a:r>
              <a:rPr dirty="0"/>
              <a:t>Furniture: </a:t>
            </a:r>
            <a:r>
              <a:rPr lang="en-IN" dirty="0"/>
              <a:t>452K</a:t>
            </a:r>
            <a:endParaRPr dirty="0"/>
          </a:p>
          <a:p>
            <a:endParaRPr dirty="0"/>
          </a:p>
          <a:p>
            <a:r>
              <a:rPr dirty="0"/>
              <a:t>🧠 Mindful Insight: Office Supplies are leading. Explore bundling or subscription-based offerings.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Sales by Ship Mode</a:t>
            </a:r>
          </a:p>
        </p:txBody>
      </p:sp>
      <p:sp>
        <p:nvSpPr>
          <p:cNvPr id="3" name="Content Placeholder 2"/>
          <p:cNvSpPr>
            <a:spLocks noGrp="1"/>
          </p:cNvSpPr>
          <p:nvPr>
            <p:ph idx="1"/>
          </p:nvPr>
        </p:nvSpPr>
        <p:spPr/>
        <p:txBody>
          <a:bodyPr>
            <a:normAutofit fontScale="92500"/>
          </a:bodyPr>
          <a:lstStyle/>
          <a:p>
            <a:r>
              <a:rPr dirty="0"/>
              <a:t>Standard: </a:t>
            </a:r>
            <a:r>
              <a:rPr lang="en-IN" dirty="0"/>
              <a:t>330K</a:t>
            </a:r>
            <a:endParaRPr dirty="0"/>
          </a:p>
          <a:p>
            <a:r>
              <a:rPr dirty="0"/>
              <a:t>Second Class: </a:t>
            </a:r>
            <a:r>
              <a:rPr lang="en-IN" dirty="0"/>
              <a:t>112K</a:t>
            </a:r>
            <a:endParaRPr dirty="0"/>
          </a:p>
          <a:p>
            <a:r>
              <a:rPr dirty="0"/>
              <a:t>First Class: </a:t>
            </a:r>
            <a:r>
              <a:rPr lang="en-IN" dirty="0"/>
              <a:t>82K</a:t>
            </a:r>
            <a:endParaRPr dirty="0"/>
          </a:p>
          <a:p>
            <a:r>
              <a:rPr dirty="0"/>
              <a:t>Same Day: </a:t>
            </a:r>
            <a:r>
              <a:rPr lang="en-IN" dirty="0"/>
              <a:t>32K</a:t>
            </a:r>
            <a:endParaRPr dirty="0"/>
          </a:p>
          <a:p>
            <a:endParaRPr dirty="0"/>
          </a:p>
          <a:p>
            <a:r>
              <a:rPr dirty="0"/>
              <a:t>🚚 Mindful Insight: Standard shipping is dominant. Offering incentives for faster delivery could create a competitive edge.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0DA08-113A-4785-9C7C-F5C3E59DF742}"/>
              </a:ext>
            </a:extLst>
          </p:cNvPr>
          <p:cNvSpPr>
            <a:spLocks noGrp="1"/>
          </p:cNvSpPr>
          <p:nvPr>
            <p:ph type="title"/>
          </p:nvPr>
        </p:nvSpPr>
        <p:spPr>
          <a:xfrm>
            <a:off x="924886" y="205563"/>
            <a:ext cx="7429499" cy="1200450"/>
          </a:xfrm>
        </p:spPr>
        <p:txBody>
          <a:bodyPr/>
          <a:lstStyle/>
          <a:p>
            <a:pPr algn="ctr"/>
            <a:r>
              <a:rPr lang="en-IN" dirty="0"/>
              <a:t>Conclusion</a:t>
            </a:r>
          </a:p>
        </p:txBody>
      </p:sp>
      <p:sp>
        <p:nvSpPr>
          <p:cNvPr id="3" name="Content Placeholder 2">
            <a:extLst>
              <a:ext uri="{FF2B5EF4-FFF2-40B4-BE49-F238E27FC236}">
                <a16:creationId xmlns:a16="http://schemas.microsoft.com/office/drawing/2014/main" id="{C9B54F98-CADF-F344-C3D7-E2B6C6AA8514}"/>
              </a:ext>
            </a:extLst>
          </p:cNvPr>
          <p:cNvSpPr>
            <a:spLocks noGrp="1"/>
          </p:cNvSpPr>
          <p:nvPr>
            <p:ph idx="1"/>
          </p:nvPr>
        </p:nvSpPr>
        <p:spPr>
          <a:xfrm>
            <a:off x="137652" y="1907458"/>
            <a:ext cx="9006348" cy="4744979"/>
          </a:xfrm>
        </p:spPr>
        <p:txBody>
          <a:bodyPr>
            <a:normAutofit fontScale="70000" lnSpcReduction="20000"/>
          </a:bodyPr>
          <a:lstStyle/>
          <a:p>
            <a:pPr algn="ctr"/>
            <a:r>
              <a:rPr lang="en-US" sz="2900" dirty="0"/>
              <a:t>This analysis highlights strengths and opportunities across regions, categories, and customer segments. Key insights include:</a:t>
            </a:r>
          </a:p>
          <a:p>
            <a:pPr algn="ctr"/>
            <a:r>
              <a:rPr lang="en-US" sz="2900" dirty="0"/>
              <a:t>- West and Consumer segment lead performance.</a:t>
            </a:r>
          </a:p>
          <a:p>
            <a:pPr algn="ctr"/>
            <a:r>
              <a:rPr lang="en-US" sz="2900" dirty="0"/>
              <a:t>- Standard shipping and COD dominate delivery and payment modes.</a:t>
            </a:r>
          </a:p>
          <a:p>
            <a:pPr algn="ctr"/>
            <a:r>
              <a:rPr lang="en-US" sz="2900" dirty="0"/>
              <a:t>- Office Supplies and Technology top the sales categories.</a:t>
            </a:r>
          </a:p>
          <a:p>
            <a:pPr algn="ctr"/>
            <a:endParaRPr lang="en-US" sz="2900" dirty="0"/>
          </a:p>
          <a:p>
            <a:pPr algn="ctr"/>
            <a:r>
              <a:rPr lang="en-US" sz="2900" dirty="0"/>
              <a:t>By approaching this data mindfully, we shift from observation to action — optimizing delivery, promoting digital payments, and timing marketing efforts to profit spikes.</a:t>
            </a:r>
          </a:p>
          <a:p>
            <a:pPr algn="ctr"/>
            <a:endParaRPr lang="en-US" sz="2900" dirty="0"/>
          </a:p>
          <a:p>
            <a:pPr algn="ctr"/>
            <a:r>
              <a:rPr lang="en-US" sz="2900" dirty="0"/>
              <a:t>This mindful data approach helps drive efficiency, satisfaction, and sustainable profitability.</a:t>
            </a:r>
          </a:p>
          <a:p>
            <a:endParaRPr lang="en-IN" dirty="0"/>
          </a:p>
        </p:txBody>
      </p:sp>
    </p:spTree>
    <p:extLst>
      <p:ext uri="{BB962C8B-B14F-4D97-AF65-F5344CB8AC3E}">
        <p14:creationId xmlns:p14="http://schemas.microsoft.com/office/powerpoint/2010/main" val="2733001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Circuit</Template>
  <TotalTime>352</TotalTime>
  <Words>504</Words>
  <Application>Microsoft Office PowerPoint</Application>
  <PresentationFormat>On-screen Show (4:3)</PresentationFormat>
  <Paragraphs>71</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Tw Cen MT</vt:lpstr>
      <vt:lpstr>Circuit</vt:lpstr>
      <vt:lpstr>Superstore Sales Analysis Dashboard</vt:lpstr>
      <vt:lpstr>Objective of the project </vt:lpstr>
      <vt:lpstr>Key Metrics at a Glance</vt:lpstr>
      <vt:lpstr>Sales by Region</vt:lpstr>
      <vt:lpstr>Sales by Segment</vt:lpstr>
      <vt:lpstr>Sales by Payment Mode</vt:lpstr>
      <vt:lpstr>Profit by Month (2019–2020)</vt:lpstr>
      <vt:lpstr>Sales by Month (2019–2020)</vt:lpstr>
      <vt:lpstr>Sales by Sub-Category</vt:lpstr>
      <vt:lpstr>Sales by Category</vt:lpstr>
      <vt:lpstr>Sales by Ship Mode</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RITESH NIRMAL</dc:creator>
  <cp:keywords/>
  <dc:description>generated using python-pptx</dc:description>
  <cp:lastModifiedBy>riteshnirmal295@gmail.com</cp:lastModifiedBy>
  <cp:revision>2</cp:revision>
  <dcterms:created xsi:type="dcterms:W3CDTF">2013-01-27T09:14:16Z</dcterms:created>
  <dcterms:modified xsi:type="dcterms:W3CDTF">2026-03-16T03:17:21Z</dcterms:modified>
  <cp:category/>
</cp:coreProperties>
</file>